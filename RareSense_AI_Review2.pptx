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F8FAFC"/>
                </a:solidFill>
                <a:latin typeface="Arial"/>
              </a:defRPr>
            </a:pPr>
            <a:r>
              <a:t>RareSense.AI</a:t>
            </a:r>
          </a:p>
          <a:p>
            <a:pPr>
              <a:spcAft>
                <a:spcPts val="400"/>
              </a:spcAft>
              <a:defRPr sz="1800">
                <a:solidFill>
                  <a:srgbClr val="06B6D4"/>
                </a:solidFill>
                <a:latin typeface="Arial"/>
              </a:defRPr>
            </a:pPr>
            <a:r>
              <a:t>LLM-Powered Rare Disease Detection from Unstructured Clinical Notes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Project Review II — Database Schema Design &amp; Frontend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6B6D4"/>
                </a:solidFill>
                <a:latin typeface="Arial"/>
              </a:rPr>
              <a:t>Candidate</a:t>
            </a:r>
            <a:r>
              <a:rPr sz="1100" b="0">
                <a:solidFill>
                  <a:srgbClr val="F8FAFC"/>
                </a:solidFill>
                <a:latin typeface="Arial"/>
              </a:rPr>
              <a:t>: Jairaj Chilukala (B.Tech CSE, Woxsen University)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6B6D4"/>
                </a:solidFill>
                <a:latin typeface="Arial"/>
              </a:rPr>
              <a:t>Supervisor</a:t>
            </a:r>
            <a:r>
              <a:rPr sz="1100" b="0">
                <a:solidFill>
                  <a:srgbClr val="F8FAFC"/>
                </a:solidFill>
                <a:latin typeface="Arial"/>
              </a:rPr>
              <a:t>: Raj Kumar Sir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6B6D4"/>
                </a:solidFill>
                <a:latin typeface="Arial"/>
              </a:rPr>
              <a:t>Domain / Focus</a:t>
            </a:r>
            <a:r>
              <a:rPr sz="1100" b="0">
                <a:solidFill>
                  <a:srgbClr val="F8FAFC"/>
                </a:solidFill>
                <a:latin typeface="Arial"/>
              </a:rPr>
              <a:t>: Health Data Science (HDS) Systems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6B6D4"/>
                </a:solidFill>
                <a:latin typeface="Arial"/>
              </a:rPr>
              <a:t>Syllabus Equivalent</a:t>
            </a:r>
            <a:r>
              <a:rPr sz="1100" b="0">
                <a:solidFill>
                  <a:srgbClr val="F8FAFC"/>
                </a:solidFill>
                <a:latin typeface="Arial"/>
              </a:rPr>
              <a:t>: Project #7 (CareerPulse Equivalent)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6B6D4"/>
                </a:solidFill>
                <a:latin typeface="Arial"/>
              </a:rPr>
              <a:t>Date</a:t>
            </a:r>
            <a:r>
              <a:rPr sz="1100" b="0">
                <a:solidFill>
                  <a:srgbClr val="F8FAFC"/>
                </a:solidFill>
                <a:latin typeface="Arial"/>
              </a:rPr>
              <a:t>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Context Recap &amp; Review II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Review I Recap (Foundations)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Core Objective</a:t>
            </a:r>
            <a:r>
              <a:rPr sz="1200" b="0">
                <a:solidFill>
                  <a:srgbClr val="F8FAFC"/>
                </a:solidFill>
                <a:latin typeface="Arial"/>
              </a:rPr>
              <a:t>: Solve rare disease diagnostics lag (avg. 7.6 years, 7+ specialists) by aggregating symptoms from clinical narratives.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Ingestion Scope</a:t>
            </a:r>
            <a:r>
              <a:rPr sz="1200" b="0">
                <a:solidFill>
                  <a:srgbClr val="F8FAFC"/>
                </a:solidFill>
                <a:latin typeface="Arial"/>
              </a:rPr>
              <a:t>: MIMIC-IV Clinical Notes + HPO/Orphanet ontologies (7,000+ rare diseases mapped).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Clinical NLP Pipeline</a:t>
            </a:r>
            <a:r>
              <a:rPr sz="1200" b="0">
                <a:solidFill>
                  <a:srgbClr val="F8FAFC"/>
                </a:solidFill>
                <a:latin typeface="Arial"/>
              </a:rPr>
              <a:t>: Concept using BioBERT (entity recognition) + medSpaCy for symptom, lab value, and drug extraction.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Case Study</a:t>
            </a:r>
            <a:r>
              <a:rPr sz="1200" b="0">
                <a:solidFill>
                  <a:srgbClr val="F8FAFC"/>
                </a:solidFill>
                <a:latin typeface="Arial"/>
              </a:rPr>
              <a:t>: Validated clinical timeline extraction and matching engine for Systemic Lupus Erythematosus (Lupus).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Review II Agenda (Design &amp;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MongoDB Database Schema</a:t>
            </a:r>
            <a:r>
              <a:rPr sz="1200" b="0">
                <a:solidFill>
                  <a:srgbClr val="F8FAFC"/>
                </a:solidFill>
                <a:latin typeface="Arial"/>
              </a:rPr>
              <a:t>: Logical architecture containing patients, clinical notes, patient timelines, and matches collections.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Entity Storage Model</a:t>
            </a:r>
            <a:r>
              <a:rPr sz="1200" b="0">
                <a:solidFill>
                  <a:srgbClr val="F8FAFC"/>
                </a:solidFill>
                <a:latin typeface="Arial"/>
              </a:rPr>
              <a:t>: Chronological array structures storing HPO mappings, negation statuses, and dense vectors.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Frontend Dashboard Prototype</a:t>
            </a:r>
            <a:r>
              <a:rPr sz="1200" b="0">
                <a:solidFill>
                  <a:srgbClr val="F8FAFC"/>
                </a:solidFill>
                <a:latin typeface="Arial"/>
              </a:rPr>
              <a:t>: Clinician interface demonstrating patient timelines, entity highlighter, and matched recommendations.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Mock Pipeline Strategy</a:t>
            </a:r>
            <a:r>
              <a:rPr sz="1200" b="0">
                <a:solidFill>
                  <a:srgbClr val="F8FAFC"/>
                </a:solidFill>
                <a:latin typeface="Arial"/>
              </a:rPr>
              <a:t>: Real-time Javascript-based parsing and matching algorithms simulating backend-less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Storage Layer Rationale: Why MongoDB?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1. Federated Schema Flexibility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Patient charts vary heavily by medical specialty.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Cardiology records track </a:t>
            </a:r>
            <a:r>
              <a:rPr sz="1200" b="1">
                <a:solidFill>
                  <a:srgbClr val="06B6D4"/>
                </a:solidFill>
                <a:latin typeface="Arial"/>
              </a:rPr>
              <a:t>ECG streams</a:t>
            </a:r>
            <a:r>
              <a:rPr sz="1200" b="0">
                <a:solidFill>
                  <a:srgbClr val="F8FAFC"/>
                </a:solidFill>
                <a:latin typeface="Arial"/>
              </a:rPr>
              <a:t>; oncology tracks </a:t>
            </a:r>
            <a:r>
              <a:rPr sz="1200" b="1">
                <a:solidFill>
                  <a:srgbClr val="06B6D4"/>
                </a:solidFill>
                <a:latin typeface="Arial"/>
              </a:rPr>
              <a:t>TNM staging</a:t>
            </a:r>
            <a:r>
              <a:rPr sz="1200" b="0">
                <a:solidFill>
                  <a:srgbClr val="F8FAFC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MongoDB Document model stores sparse, heterogeneous clinical events without database table alters.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030" y="1463040"/>
            <a:ext cx="347472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19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2. Integrated Vector Indexes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470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Semantic matching requires comparing high-dimensional embeddings.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MongoDB Atlas supports native </a:t>
            </a:r>
            <a:r>
              <a:rPr sz="1200" b="1">
                <a:solidFill>
                  <a:srgbClr val="06B6D4"/>
                </a:solidFill>
                <a:latin typeface="Arial"/>
              </a:rPr>
              <a:t>$vectorSearch</a:t>
            </a:r>
            <a:r>
              <a:rPr sz="1200" b="0">
                <a:solidFill>
                  <a:srgbClr val="F8FAFC"/>
                </a:solidFill>
                <a:latin typeface="Arial"/>
              </a:rPr>
              <a:t> indexes.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Phenotype vectors (768d) are stored and matched natively, avoiding separate vector DB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463040"/>
            <a:ext cx="347472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495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3. Chronological Time-Series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201168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Diagnosing rare diseases requires tracking symptoms over years.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Compound indexes like `{ subject_id: 1, 'events.timestamp': 1 }` ensure sub-second retrieval of chronological lines.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Optimizes queries for timeline aggregation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Logical Data Model &amp; Document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4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RareSense.AI models clinical data across 5 distinct MongoDB collections, splitting ingestion, parsed history, and prediction records.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754880"/>
                <a:gridCol w="26517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Key / Indexes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 Purpose &amp; Details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Flow Relation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patients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_id (ObjectId)</a:t>
                      </a:r>
                    </a:p>
                    <a:p>
                      <a:r>
                        <a:t>subject_id (Unique Index)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Stores demographics, baseline birth years, and gender splits for age validation.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Baseline patient profile anchor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clinical_notes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_id (ObjectId)</a:t>
                      </a:r>
                    </a:p>
                    <a:p>
                      <a:r>
                        <a:t>subject_id (Index)</a:t>
                      </a:r>
                    </a:p>
                    <a:p>
                      <a:r>
                        <a:t>hadm_id (Index)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Contains raw physician narratives, admission timestamps, and departmental origins.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Ingested raw feed (MIMIC-IV)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patient_timelines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_id (ObjectId)</a:t>
                      </a:r>
                    </a:p>
                    <a:p>
                      <a:r>
                        <a:t>subject_id (Unique Index)</a:t>
                      </a:r>
                    </a:p>
                    <a:p>
                      <a:r>
                        <a:t>events.timestamp (Index)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Stores aggregated, NLP-extracted symptom structures, HPO code mappings, and 768d vector embeddings.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NLP extraction and vector storage output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rare_diseases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_id (ObjectId)</a:t>
                      </a:r>
                    </a:p>
                    <a:p>
                      <a:r>
                        <a:t>orpha_code (Unique Index)</a:t>
                      </a:r>
                    </a:p>
                    <a:p>
                      <a:r>
                        <a:t>disease_vector (Vector Index)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Reference collection containing 7,000+ disease symptom profiles and their diagnostic vectors.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Static system reference matrix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diagnosis_matches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_id (ObjectId)</a:t>
                      </a:r>
                    </a:p>
                    <a:p>
                      <a:r>
                        <a:t>subject_id (Index)</a:t>
                      </a:r>
                    </a:p>
                    <a:p>
                      <a:r>
                        <a:t>generated_at (Index)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History logs of vector similarity outputs, matched symptom indices, and clinician feedback approvals.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Evaluation log and audit loop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Patients &amp; Notes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5 of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patients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ObjectId("666fca1234bc56de7890ef01"),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"gender":</a:t>
            </a:r>
            <a:r>
              <a:rPr sz="950">
                <a:solidFill>
                  <a:srgbClr val="6EE7B7"/>
                </a:solidFill>
                <a:latin typeface="Consolas"/>
              </a:rPr>
              <a:t> "F",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"anchor_age":</a:t>
            </a:r>
            <a:r>
              <a:rPr sz="950">
                <a:solidFill>
                  <a:srgbClr val="FDBA74"/>
                </a:solidFill>
                <a:latin typeface="Consolas"/>
              </a:rPr>
              <a:t> 28,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"anchor_year":</a:t>
            </a:r>
            <a:r>
              <a:rPr sz="950">
                <a:solidFill>
                  <a:srgbClr val="FDBA74"/>
                </a:solidFill>
                <a:latin typeface="Consolas"/>
              </a:rPr>
              <a:t> 2023,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"dod":</a:t>
            </a:r>
            <a:r>
              <a:rPr sz="950">
                <a:solidFill>
                  <a:srgbClr val="FDBA74"/>
                </a:solidFill>
                <a:latin typeface="Consolas"/>
              </a:rPr>
              <a:t> null,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"created_at":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ISODate("2026-06-15T09:00:00Z"),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"updated_at":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ISODate("2026-06-15T09:00:00Z")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clinical_notes Collection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ObjectId("666fca9876de54cb3210ab12"),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"note_id":</a:t>
            </a:r>
            <a:r>
              <a:rPr sz="950">
                <a:solidFill>
                  <a:srgbClr val="6EE7B7"/>
                </a:solidFill>
                <a:latin typeface="Consolas"/>
              </a:rPr>
              <a:t> "100234-NOTE-1",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"hadm_id":</a:t>
            </a:r>
            <a:r>
              <a:rPr sz="950">
                <a:solidFill>
                  <a:srgbClr val="FDBA74"/>
                </a:solidFill>
                <a:latin typeface="Consolas"/>
              </a:rPr>
              <a:t> 156789,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"note_date":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ISODate("2023-01-15T14:30:00Z"),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"note_type":</a:t>
            </a:r>
            <a:r>
              <a:rPr sz="950">
                <a:solidFill>
                  <a:srgbClr val="6EE7B7"/>
                </a:solidFill>
                <a:latin typeface="Consolas"/>
              </a:rPr>
              <a:t> "Discharge Summary",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"text_content":</a:t>
            </a:r>
            <a:r>
              <a:rPr sz="950">
                <a:solidFill>
                  <a:srgbClr val="6EE7B7"/>
                </a:solidFill>
                <a:latin typeface="Consolas"/>
              </a:rPr>
              <a:t> "28F presents with erythematous malar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             rash across cheeks... reports photosensitivity...",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"metadata":</a:t>
            </a:r>
            <a:r>
              <a:rPr sz="950">
                <a:solidFill>
                  <a:srgbClr val="FDBA74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"author":</a:t>
            </a:r>
            <a:r>
              <a:rPr sz="950">
                <a:solidFill>
                  <a:srgbClr val="6EE7B7"/>
                </a:solidFill>
                <a:latin typeface="Consolas"/>
              </a:rPr>
              <a:t> "Dr. Sarah Lin",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"department":</a:t>
            </a:r>
            <a:r>
              <a:rPr sz="950">
                <a:solidFill>
                  <a:srgbClr val="6EE7B7"/>
                </a:solidFill>
                <a:latin typeface="Consolas"/>
              </a:rPr>
              <a:t> "Dermatology"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Aggregated Patient Timelines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6 of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patient_timelines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3949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ObjectId("666fcafe54bc98de7610ef34"),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"events":</a:t>
            </a:r>
            <a:r>
              <a:rPr sz="95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"event_id":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ObjectId("666fcb0123bc45de6789ff01"),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"timestamp":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ISODate("2023-01-15T14:30:00Z"),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"event_type":</a:t>
            </a:r>
            <a:r>
              <a:rPr sz="950">
                <a:solidFill>
                  <a:srgbClr val="6EE7B7"/>
                </a:solidFill>
                <a:latin typeface="Consolas"/>
              </a:rPr>
              <a:t> "symptom",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"source_note_id":</a:t>
            </a:r>
            <a:r>
              <a:rPr sz="950">
                <a:solidFill>
                  <a:srgbClr val="6EE7B7"/>
                </a:solidFill>
                <a:latin typeface="Consolas"/>
              </a:rPr>
              <a:t> "100234-NOTE-1",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"extracted_text":</a:t>
            </a:r>
            <a:r>
              <a:rPr sz="95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"standardized_name":</a:t>
            </a:r>
            <a:r>
              <a:rPr sz="95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"HP:0025300",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"confidence_score":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0.94,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"status":</a:t>
            </a:r>
            <a:r>
              <a:rPr sz="950">
                <a:solidFill>
                  <a:srgbClr val="6EE7B7"/>
                </a:solidFill>
                <a:latin typeface="Consolas"/>
              </a:rPr>
              <a:t> "present"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"event_id":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ObjectId("666fcb0123bc45de6789ff02"),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"timestamp":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ISODate("2023-08-22T10:15:00Z"),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"event_type":</a:t>
            </a:r>
            <a:r>
              <a:rPr sz="950">
                <a:solidFill>
                  <a:srgbClr val="6EE7B7"/>
                </a:solidFill>
                <a:latin typeface="Consolas"/>
              </a:rPr>
              <a:t> "lab",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"source_note_id":</a:t>
            </a:r>
            <a:r>
              <a:rPr sz="950">
                <a:solidFill>
                  <a:srgbClr val="6EE7B7"/>
                </a:solidFill>
                <a:latin typeface="Consolas"/>
              </a:rPr>
              <a:t> "100234-NOTE-2",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"extracted_text":</a:t>
            </a:r>
            <a:r>
              <a:rPr sz="950">
                <a:solidFill>
                  <a:srgbClr val="6EE7B7"/>
                </a:solidFill>
                <a:latin typeface="Consolas"/>
              </a:rPr>
              <a:t> "low platelets",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"standardized_name":</a:t>
            </a:r>
            <a:r>
              <a:rPr sz="950">
                <a:solidFill>
                  <a:srgbClr val="6EE7B7"/>
                </a:solidFill>
                <a:latin typeface="Consolas"/>
              </a:rPr>
              <a:t> "Thrombocytopenia",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"HP:0001873",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"confidence_score":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0.89,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"status":</a:t>
            </a:r>
            <a:r>
              <a:rPr sz="950">
                <a:solidFill>
                  <a:srgbClr val="6EE7B7"/>
                </a:solidFill>
                <a:latin typeface="Consolas"/>
              </a:rPr>
              <a:t> "present",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"attributes":</a:t>
            </a:r>
            <a:r>
              <a:rPr sz="950">
                <a:solidFill>
                  <a:srgbClr val="6EE7B7"/>
                </a:solidFill>
                <a:latin typeface="Consolas"/>
              </a:rPr>
              <a:t> { "value": 89000, "unit": "uL"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"phenotype_vector":</a:t>
            </a:r>
            <a:r>
              <a:rPr sz="950">
                <a:solidFill>
                  <a:srgbClr val="6EE7B7"/>
                </a:solidFill>
                <a:latin typeface="Consolas"/>
              </a:rPr>
              <a:t> [0.0125, -0.0432, 0.1194, 0.0053, "..."]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Key Design 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Aggregate Ingestion Pattern</a:t>
            </a:r>
            <a:r>
              <a:rPr sz="1200" b="0">
                <a:solidFill>
                  <a:srgbClr val="F8FAFC"/>
                </a:solidFill>
                <a:latin typeface="Arial"/>
              </a:rPr>
              <a:t>: Instead of querying multiple collections on the fly, parsed symptoms are compiled into a single document timeline index per patient.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Standardized Ontologies</a:t>
            </a:r>
            <a:r>
              <a:rPr sz="1200" b="0">
                <a:solidFill>
                  <a:srgbClr val="F8FAFC"/>
                </a:solidFill>
                <a:latin typeface="Arial"/>
              </a:rPr>
              <a:t>: All entities map directly to standard codes (HPO for symptoms, RxNorm for drugs, LOINC for labs).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Negation Checking</a:t>
            </a:r>
            <a:r>
              <a:rPr sz="1200" b="0">
                <a:solidFill>
                  <a:srgbClr val="F8FAFC"/>
                </a:solidFill>
                <a:latin typeface="Arial"/>
              </a:rPr>
              <a:t>: The `status` field checks for negation terms (e.g. 'denies joint pain' -&gt; status: `negated`), filtering out false positive matches.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Dense Vector Embedding</a:t>
            </a:r>
            <a:r>
              <a:rPr sz="1200" b="0">
                <a:solidFill>
                  <a:srgbClr val="F8FAFC"/>
                </a:solidFill>
                <a:latin typeface="Arial"/>
              </a:rPr>
              <a:t>: The `phenotype_vector` field stores a 768-dimension dense vector representing the aggregated patient phenotype for semantic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Disease Maps &amp;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7 of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rare_diseases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ObjectId("666fcbde23ab45cd8912ef56"),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"orpha_code":</a:t>
            </a:r>
            <a:r>
              <a:rPr sz="950">
                <a:solidFill>
                  <a:srgbClr val="FDBA74"/>
                </a:solidFill>
                <a:latin typeface="Consolas"/>
              </a:rPr>
              <a:t> 536,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"disease_name":</a:t>
            </a:r>
            <a:r>
              <a:rPr sz="950">
                <a:solidFill>
                  <a:srgbClr val="6EE7B7"/>
                </a:solidFill>
                <a:latin typeface="Consolas"/>
              </a:rPr>
              <a:t> "Systemic Lupus Erythematosus",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"synonyms":</a:t>
            </a:r>
            <a:r>
              <a:rPr sz="950">
                <a:solidFill>
                  <a:srgbClr val="6EE7B7"/>
                </a:solidFill>
                <a:latin typeface="Consolas"/>
              </a:rPr>
              <a:t> ["SLE", "Lupus"],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"symptom_profiles":</a:t>
            </a:r>
            <a:r>
              <a:rPr sz="95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"HP:0025300",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"hpo_name":</a:t>
            </a:r>
            <a:r>
              <a:rPr sz="95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"frequency":</a:t>
            </a:r>
            <a:r>
              <a:rPr sz="950">
                <a:solidFill>
                  <a:srgbClr val="6EE7B7"/>
                </a:solidFill>
                <a:latin typeface="Consolas"/>
              </a:rPr>
              <a:t> "Very frequent (80-99%)"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"HP:0001873",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"hpo_name":</a:t>
            </a:r>
            <a:r>
              <a:rPr sz="950">
                <a:solidFill>
                  <a:srgbClr val="6EE7B7"/>
                </a:solidFill>
                <a:latin typeface="Consolas"/>
              </a:rPr>
              <a:t> "Thrombocytopenia",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"frequency":</a:t>
            </a:r>
            <a:r>
              <a:rPr sz="950">
                <a:solidFill>
                  <a:srgbClr val="6EE7B7"/>
                </a:solidFill>
                <a:latin typeface="Consolas"/>
              </a:rPr>
              <a:t> "Frequent (30-79%)"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"disease_vector":</a:t>
            </a:r>
            <a:r>
              <a:rPr sz="950">
                <a:solidFill>
                  <a:srgbClr val="6EE7B7"/>
                </a:solidFill>
                <a:latin typeface="Consolas"/>
              </a:rPr>
              <a:t> [0.0142, -0.0398, 0.1215, 0.0049, "..."]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diagnosis_matches Collection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ObjectId("666fccaf12bc34de5678ef78"),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"generated_at":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ISODate("2026-06-15T09:30:00Z"),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"matched_diseases":</a:t>
            </a:r>
            <a:r>
              <a:rPr sz="95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"rank":</a:t>
            </a:r>
            <a:r>
              <a:rPr sz="950">
                <a:solidFill>
                  <a:srgbClr val="FDBA74"/>
                </a:solidFill>
                <a:latin typeface="Consolas"/>
              </a:rPr>
              <a:t> 1,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"orpha_code":</a:t>
            </a:r>
            <a:r>
              <a:rPr sz="950">
                <a:solidFill>
                  <a:srgbClr val="FDBA74"/>
                </a:solidFill>
                <a:latin typeface="Consolas"/>
              </a:rPr>
              <a:t> 536,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"disease_name":</a:t>
            </a:r>
            <a:r>
              <a:rPr sz="950">
                <a:solidFill>
                  <a:srgbClr val="6EE7B7"/>
                </a:solidFill>
                <a:latin typeface="Consolas"/>
              </a:rPr>
              <a:t> "Systemic Lupus Erythematosus",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"matched_symptoms":</a:t>
            </a:r>
            <a:r>
              <a:rPr sz="950">
                <a:solidFill>
                  <a:srgbClr val="6EE7B7"/>
                </a:solidFill>
                <a:latin typeface="Consolas"/>
              </a:rPr>
              <a:t> ["HP:0025300", "HP:0001873"],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"vector_similarity_score":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0.87,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"rules_confidence_score":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0.82,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"final_confidence":</a:t>
            </a:r>
            <a:r>
              <a:rPr sz="950">
                <a:solidFill>
                  <a:srgbClr val="FDBA74"/>
                </a:solidFill>
                <a:latin typeface="Consolas"/>
              </a:rPr>
              <a:t> 0.85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"review_status":</a:t>
            </a:r>
            <a:r>
              <a:rPr sz="950">
                <a:solidFill>
                  <a:srgbClr val="6EE7B7"/>
                </a:solidFill>
                <a:latin typeface="Consolas"/>
              </a:rPr>
              <a:t> "approved",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"feedback_notes":</a:t>
            </a:r>
            <a:r>
              <a:rPr sz="950">
                <a:solidFill>
                  <a:srgbClr val="6EE7B7"/>
                </a:solidFill>
                <a:latin typeface="Consolas"/>
              </a:rPr>
              <a:t> "Highly consistent clinical picture."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User Interface: Clinician Dashboard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Core Dashboard Views &amp;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Patient Finder</a:t>
            </a:r>
            <a:r>
              <a:rPr sz="1200" b="0">
                <a:solidFill>
                  <a:srgbClr val="F8FAFC"/>
                </a:solidFill>
                <a:latin typeface="Arial"/>
              </a:rPr>
              <a:t>: Dropdown and search filters to select active patients from the MIMIC-IV registry.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Clinical Note Inspector</a:t>
            </a:r>
            <a:r>
              <a:rPr sz="1200" b="0">
                <a:solidFill>
                  <a:srgbClr val="F8FAFC"/>
                </a:solidFill>
                <a:latin typeface="Arial"/>
              </a:rPr>
              <a:t>: Text display pane highlighting extracted medical entities (Symptoms, Meds, Labs) with HSL color-coded hover cards.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Chronological Health Graph</a:t>
            </a:r>
            <a:r>
              <a:rPr sz="1200" b="0">
                <a:solidFill>
                  <a:srgbClr val="F8FAFC"/>
                </a:solidFill>
                <a:latin typeface="Arial"/>
              </a:rPr>
              <a:t>: Graphical timeline displaying when specific symptoms developed and when medications were changed.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Rare Disease Suggestion Panel</a:t>
            </a:r>
            <a:r>
              <a:rPr sz="1200" b="0">
                <a:solidFill>
                  <a:srgbClr val="F8FAFC"/>
                </a:solidFill>
                <a:latin typeface="Arial"/>
              </a:rPr>
              <a:t>: Ranked list of potential rare diseases with color-coded confidence score meters (e.g. Red for high match).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Comparative Evidence Board</a:t>
            </a:r>
            <a:r>
              <a:rPr sz="1200" b="0">
                <a:solidFill>
                  <a:srgbClr val="F8FAFC"/>
                </a:solidFill>
                <a:latin typeface="Arial"/>
              </a:rPr>
              <a:t>: Side-by-side comparison showing patient symptoms against typical diagnostic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Design System &amp; CSS 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Curated Color Theme</a:t>
            </a:r>
            <a:r>
              <a:rPr sz="1200" b="0">
                <a:solidFill>
                  <a:srgbClr val="F8FAFC"/>
                </a:solidFill>
                <a:latin typeface="Arial"/>
              </a:rPr>
              <a:t>: High-contrast, dark-mode styling utilizing Deep Slate backgrounds and neon Indigo, Cyan, and Teal accents.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Glassmorphic Accents</a:t>
            </a:r>
            <a:r>
              <a:rPr sz="1200" b="0">
                <a:solidFill>
                  <a:srgbClr val="F8FAFC"/>
                </a:solidFill>
                <a:latin typeface="Arial"/>
              </a:rPr>
              <a:t>: Subtle background grids, semi-transparent overlays (`backdrop-filter: blur`), and vibrant glows.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Responsive Grid Layouts</a:t>
            </a:r>
            <a:r>
              <a:rPr sz="1200" b="0">
                <a:solidFill>
                  <a:srgbClr val="F8FAFC"/>
                </a:solidFill>
                <a:latin typeface="Arial"/>
              </a:rPr>
              <a:t>: Adaptive design scaling from desktop clinical displays down to mobile tablets.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Micro-Animations</a:t>
            </a:r>
            <a:r>
              <a:rPr sz="1200" b="0">
                <a:solidFill>
                  <a:srgbClr val="F8FAFC"/>
                </a:solidFill>
                <a:latin typeface="Arial"/>
              </a:rPr>
              <a:t>: Hover animations on diagnostic suggestions, smooth scrolling transitions, and active progress gauges.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Mock Pipeline Strategy &amp; Client-Side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Clientside Prototyping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Stored Local Datasets</a:t>
            </a:r>
            <a:r>
              <a:rPr sz="1200" b="0">
                <a:solidFill>
                  <a:srgbClr val="F8FAFC"/>
                </a:solidFill>
                <a:latin typeface="Arial"/>
              </a:rPr>
              <a:t>: Embedded datasets for patient files and HPO dictionaries compiled into static Javascript arrays.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Simulated NLP Engine</a:t>
            </a:r>
            <a:r>
              <a:rPr sz="1200" b="0">
                <a:solidFill>
                  <a:srgbClr val="F8FAFC"/>
                </a:solidFill>
                <a:latin typeface="Arial"/>
              </a:rPr>
              <a:t>: Client-side substring scanning and concept keyword mappings simulate the medSpaCy parser output.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Simulated Vector Matching</a:t>
            </a:r>
            <a:r>
              <a:rPr sz="1200" b="0">
                <a:solidFill>
                  <a:srgbClr val="F8FAFC"/>
                </a:solidFill>
                <a:latin typeface="Arial"/>
              </a:rPr>
              <a:t>: Exact intersection comparisons (Jaccard similarity weights) calculate diagnostic match ranks.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Feedback Loop Persistence</a:t>
            </a:r>
            <a:r>
              <a:rPr sz="1200" b="0">
                <a:solidFill>
                  <a:srgbClr val="F8FAFC"/>
                </a:solidFill>
                <a:latin typeface="Arial"/>
              </a:rPr>
              <a:t>: Clinician feedback (approved / invalid flags) is temporarily cached in `localStorage` to simulate active CRUD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Prototyping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Zero Server Dependencies</a:t>
            </a:r>
            <a:r>
              <a:rPr sz="1200" b="0">
                <a:solidFill>
                  <a:srgbClr val="F8FAFC"/>
                </a:solidFill>
                <a:latin typeface="Arial"/>
              </a:rPr>
              <a:t>: Presentation runs completely client-side in the browser, bypassing Python API or database cluster uptime needs.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Decoupled UX Iteration</a:t>
            </a:r>
            <a:r>
              <a:rPr sz="1200" b="0">
                <a:solidFill>
                  <a:srgbClr val="F8FAFC"/>
                </a:solidFill>
                <a:latin typeface="Arial"/>
              </a:rPr>
              <a:t>: Clinician UI layouts, timeline graphing, and response animations could be optimized rapidly prior to database locking.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1-to-1 Logical Parity</a:t>
            </a:r>
            <a:r>
              <a:rPr sz="1200" b="0">
                <a:solidFill>
                  <a:srgbClr val="F8FAFC"/>
                </a:solidFill>
                <a:latin typeface="Arial"/>
              </a:rPr>
              <a:t>: The frontend functions exactly like a connected server app, ensuring a robust demonstration environment for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Review III Roadmap: Production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39319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Phase 1: DB Connection &amp;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Migrate static local datasets into active </a:t>
            </a:r>
            <a:r>
              <a:rPr sz="1200" b="1">
                <a:solidFill>
                  <a:srgbClr val="06B6D4"/>
                </a:solidFill>
                <a:latin typeface="Arial"/>
              </a:rPr>
              <a:t>MongoDB databases</a:t>
            </a:r>
            <a:r>
              <a:rPr sz="1200" b="0">
                <a:solidFill>
                  <a:srgbClr val="F8FAFC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Expose FastAPI endpoints for CRUD notes, timeline logs, and approvals.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Implement native aggregation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030" y="1645920"/>
            <a:ext cx="3474720" cy="39319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19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Phase 2: BioBERT Containerization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470" y="21031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Spin up a Docker container with </a:t>
            </a:r>
            <a:r>
              <a:rPr sz="1200" b="1">
                <a:solidFill>
                  <a:srgbClr val="06B6D4"/>
                </a:solidFill>
                <a:latin typeface="Arial"/>
              </a:rPr>
              <a:t>PyTorch</a:t>
            </a:r>
            <a:r>
              <a:rPr sz="1200" b="0">
                <a:solidFill>
                  <a:srgbClr val="F8FAFC"/>
                </a:solidFill>
                <a:latin typeface="Arial"/>
              </a:rPr>
              <a:t> &amp; </a:t>
            </a:r>
            <a:r>
              <a:rPr sz="1200" b="1">
                <a:solidFill>
                  <a:srgbClr val="06B6D4"/>
                </a:solidFill>
                <a:latin typeface="Arial"/>
              </a:rPr>
              <a:t>medSpaCy</a:t>
            </a:r>
            <a:r>
              <a:rPr sz="1200" b="0">
                <a:solidFill>
                  <a:srgbClr val="F8FAFC"/>
                </a:solidFill>
                <a:latin typeface="Arial"/>
              </a:rPr>
              <a:t> engines.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Generate real 768d vector embeddings from extracted patient timelines.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Optimize container latency for real-time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645920"/>
            <a:ext cx="3474720" cy="39319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495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Phase 3: Atlas Vector 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210312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Set up Atlas Vector Search index configurations.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Implement live `$vectorSearch` similarity queries.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Run validation benchmarks against the ground-truth MIMIC-IV patient registries.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