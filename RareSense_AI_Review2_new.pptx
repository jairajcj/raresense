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629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645920"/>
            <a:ext cx="109728" cy="3291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600" b="1">
                <a:solidFill>
                  <a:srgbClr val="F8FAFC"/>
                </a:solidFill>
                <a:latin typeface="Arial"/>
              </a:defRPr>
            </a:pPr>
            <a:r>
              <a:t>RareSense.AI</a:t>
            </a:r>
          </a:p>
          <a:p>
            <a:pPr>
              <a:spcAft>
                <a:spcPts val="400"/>
              </a:spcAft>
              <a:defRPr sz="1800">
                <a:solidFill>
                  <a:srgbClr val="06B6D4"/>
                </a:solidFill>
                <a:latin typeface="Arial"/>
              </a:defRPr>
            </a:pPr>
            <a:r>
              <a:t>LLM-Powered Rare Disease Detection from Unstructured Clinical Notes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Project Review II — Database Schema Design &amp; Frontend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73152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dirty="0" smtClean="0">
                <a:solidFill>
                  <a:srgbClr val="06B6D4"/>
                </a:solidFill>
                <a:latin typeface="Arial"/>
              </a:rPr>
              <a:t>Supervisor</a:t>
            </a:r>
            <a:r>
              <a:rPr sz="1100" b="0" dirty="0">
                <a:solidFill>
                  <a:srgbClr val="F8FAFC"/>
                </a:solidFill>
                <a:latin typeface="Arial"/>
              </a:rPr>
              <a:t>: Raj Kumar Sir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dirty="0" smtClean="0">
                <a:solidFill>
                  <a:srgbClr val="06B6D4"/>
                </a:solidFill>
                <a:latin typeface="Arial"/>
              </a:rPr>
              <a:t>Syllabus </a:t>
            </a:r>
            <a:r>
              <a:rPr sz="1100" b="1" dirty="0">
                <a:solidFill>
                  <a:srgbClr val="06B6D4"/>
                </a:solidFill>
                <a:latin typeface="Arial"/>
              </a:rPr>
              <a:t>Equivalent</a:t>
            </a:r>
            <a:r>
              <a:rPr sz="1100" b="0" dirty="0">
                <a:solidFill>
                  <a:srgbClr val="F8FAFC"/>
                </a:solidFill>
                <a:latin typeface="Arial"/>
              </a:rPr>
              <a:t>: Project #7 (</a:t>
            </a:r>
            <a:r>
              <a:rPr sz="1100" b="0" dirty="0" err="1">
                <a:solidFill>
                  <a:srgbClr val="F8FAFC"/>
                </a:solidFill>
                <a:latin typeface="Arial"/>
              </a:rPr>
              <a:t>CareerPulse</a:t>
            </a:r>
            <a:r>
              <a:rPr sz="1100" b="0" dirty="0">
                <a:solidFill>
                  <a:srgbClr val="F8FAFC"/>
                </a:solidFill>
                <a:latin typeface="Arial"/>
              </a:rPr>
              <a:t> Equivalent)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dirty="0">
                <a:solidFill>
                  <a:srgbClr val="06B6D4"/>
                </a:solidFill>
                <a:latin typeface="Arial"/>
              </a:rPr>
              <a:t>Date</a:t>
            </a:r>
            <a:r>
              <a:rPr sz="1100" b="0" dirty="0">
                <a:solidFill>
                  <a:srgbClr val="F8FAFC"/>
                </a:solidFill>
                <a:latin typeface="Arial"/>
              </a:rPr>
              <a:t>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Context Recap: Review I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2 of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7548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The Diagnostic Odyssey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Diagnostic Delay</a:t>
            </a:r>
            <a:r>
              <a:rPr sz="1200" b="0">
                <a:solidFill>
                  <a:srgbClr val="F8FAFC"/>
                </a:solidFill>
                <a:latin typeface="Arial"/>
              </a:rPr>
              <a:t>: Rare diseases take </a:t>
            </a:r>
            <a:r>
              <a:rPr sz="1200" b="1">
                <a:solidFill>
                  <a:srgbClr val="06B6D4"/>
                </a:solidFill>
                <a:latin typeface="Arial"/>
              </a:rPr>
              <a:t>7.6 years</a:t>
            </a:r>
            <a:r>
              <a:rPr sz="1200" b="0">
                <a:solidFill>
                  <a:srgbClr val="F8FAFC"/>
                </a:solidFill>
                <a:latin typeface="Arial"/>
              </a:rPr>
              <a:t> and an average of </a:t>
            </a:r>
            <a:r>
              <a:rPr sz="1200" b="1">
                <a:solidFill>
                  <a:srgbClr val="06B6D4"/>
                </a:solidFill>
                <a:latin typeface="Arial"/>
              </a:rPr>
              <a:t>7 specialist visits</a:t>
            </a:r>
            <a:r>
              <a:rPr sz="1200" b="0">
                <a:solidFill>
                  <a:srgbClr val="F8FAFC"/>
                </a:solidFill>
                <a:latin typeface="Arial"/>
              </a:rPr>
              <a:t> to diagnose because symptoms are scattered across separate systems.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Context Isolation</a:t>
            </a:r>
            <a:r>
              <a:rPr sz="1200" b="0">
                <a:solidFill>
                  <a:srgbClr val="F8FAFC"/>
                </a:solidFill>
                <a:latin typeface="Arial"/>
              </a:rPr>
              <a:t>: Specialists address isolated complaints (e.g. dermatologists treat a rash; hematologists treat low platelets) without connecting them chronologically.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Review 1 Core Deliverable</a:t>
            </a:r>
            <a:r>
              <a:rPr sz="1200" b="0">
                <a:solidFill>
                  <a:srgbClr val="F8FAFC"/>
                </a:solidFill>
                <a:latin typeface="Arial"/>
              </a:rPr>
              <a:t>: Concept mapping of a federated pipeline to unify patient timelines and run similarity matching.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47548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Data Sources &amp;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EHR Data (MIMIC-IV)</a:t>
            </a:r>
            <a:r>
              <a:rPr sz="1200" b="0">
                <a:solidFill>
                  <a:srgbClr val="F8FAFC"/>
                </a:solidFill>
                <a:latin typeface="Arial"/>
              </a:rPr>
              <a:t>: Leverages 40k+ real ICU records including discharge summaries, ICD codes, prescriptions, and lab events.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Disease Ontology (HPO &amp; Orphanet)</a:t>
            </a:r>
            <a:r>
              <a:rPr sz="1200" b="0">
                <a:solidFill>
                  <a:srgbClr val="F8FAFC"/>
                </a:solidFill>
                <a:latin typeface="Arial"/>
              </a:rPr>
              <a:t>: Maps 7,000+ rare diseases to standardized phenotype symptom identifiers (e.g., malar rash = HP:0025300).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Lupus Case Study Validation</a:t>
            </a:r>
            <a:r>
              <a:rPr sz="1200" b="0">
                <a:solidFill>
                  <a:srgbClr val="F8FAFC"/>
                </a:solidFill>
                <a:latin typeface="Arial"/>
              </a:rPr>
              <a:t>: Showcased how uniting clinical notes from 4 separate doctor visits over 2 years flags Systemic Lupus Erythematosus (Lupus) in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Frontend Interface &amp; Dual-Modal Ingestion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3 of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7548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Clinical Ingestion Panel (Text or Image)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Free-Text Clinical Notes</a:t>
            </a:r>
            <a:r>
              <a:rPr sz="1200" b="0">
                <a:solidFill>
                  <a:srgbClr val="F8FAFC"/>
                </a:solidFill>
                <a:latin typeface="Arial"/>
              </a:rPr>
              <a:t>: Text editor allows clinicians to copy-paste or write discharge reports, consultations, or progress updates.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Prescription Image Uploads</a:t>
            </a:r>
            <a:r>
              <a:rPr sz="1200" b="0">
                <a:solidFill>
                  <a:srgbClr val="F8FAFC"/>
                </a:solidFill>
                <a:latin typeface="Arial"/>
              </a:rPr>
              <a:t>: Clinicians can upload </a:t>
            </a:r>
            <a:r>
              <a:rPr sz="1200" b="1">
                <a:solidFill>
                  <a:srgbClr val="06B6D4"/>
                </a:solidFill>
                <a:latin typeface="Arial"/>
              </a:rPr>
              <a:t>high-resolution images / scans</a:t>
            </a:r>
            <a:r>
              <a:rPr sz="1200" b="0">
                <a:solidFill>
                  <a:srgbClr val="F8FAFC"/>
                </a:solidFill>
                <a:latin typeface="Arial"/>
              </a:rPr>
              <a:t> of handwritten prescriptions or lab printouts directly into the dashboard.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Vision-OCR Pipeline</a:t>
            </a:r>
            <a:r>
              <a:rPr sz="1200" b="0">
                <a:solidFill>
                  <a:srgbClr val="F8FAFC"/>
                </a:solidFill>
                <a:latin typeface="Arial"/>
              </a:rPr>
              <a:t>: The system simulates an Optical Character Recognition (OCR) parser that processes images, extracts text boundaries, and pipes the raw text into the medSpaCy NLP extractor.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Instant Highlight Verification</a:t>
            </a:r>
            <a:r>
              <a:rPr sz="1200" b="0">
                <a:solidFill>
                  <a:srgbClr val="F8FAFC"/>
                </a:solidFill>
                <a:latin typeface="Arial"/>
              </a:rPr>
              <a:t>: Extracted medical entities are highlighted on screen immediately, allowing clinician corrections before database saving.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475488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Clinician Dashboard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Patient Cohort Switcher</a:t>
            </a:r>
            <a:r>
              <a:rPr sz="1200" b="0">
                <a:solidFill>
                  <a:srgbClr val="F8FAFC"/>
                </a:solidFill>
                <a:latin typeface="Arial"/>
              </a:rPr>
              <a:t>: Dropdown and filter tags to change patient profiles and admission IDs dynamically.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Chronological Health Graph</a:t>
            </a:r>
            <a:r>
              <a:rPr sz="1200" b="0">
                <a:solidFill>
                  <a:srgbClr val="F8FAFC"/>
                </a:solidFill>
                <a:latin typeface="Arial"/>
              </a:rPr>
              <a:t>: Graphic rendering of symptoms, drug timelines, and lab spikes over multi-year ranges.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Recommendation list</a:t>
            </a:r>
            <a:r>
              <a:rPr sz="1200" b="0">
                <a:solidFill>
                  <a:srgbClr val="F8FAFC"/>
                </a:solidFill>
                <a:latin typeface="Arial"/>
              </a:rPr>
              <a:t>: Ranked list of potential rare diseases showing similarity percentages (e.g. 87% match) with color-coded meters.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Clinician Feedback Board</a:t>
            </a:r>
            <a:r>
              <a:rPr sz="1200" b="0">
                <a:solidFill>
                  <a:srgbClr val="F8FAFC"/>
                </a:solidFill>
                <a:latin typeface="Arial"/>
              </a:rPr>
              <a:t>: Diagnostic validation checkboxes ('Approve' / 'Reject') and review text inputs to save clinician audits.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Database Schema: Document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4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RareSense.AI structures its storage layer with MongoDB to process both textual clinical notes and uploaded prescription image metadata.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20623"/>
              </p:ext>
            </p:extLst>
          </p:nvPr>
        </p:nvGraphicFramePr>
        <p:xfrm>
          <a:off x="548640" y="1645920"/>
          <a:ext cx="11064240" cy="4823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4754880"/>
                <a:gridCol w="26517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Collection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Primary Key / Indexes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Document Purpose &amp; Dual-Modal Ingestion Model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Flow Relation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patients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dirty="0"/>
                        <a:t>_id (</a:t>
                      </a:r>
                      <a:r>
                        <a:rPr dirty="0" err="1"/>
                        <a:t>ObjectId</a:t>
                      </a:r>
                      <a:r>
                        <a:rPr dirty="0"/>
                        <a:t>)</a:t>
                      </a:r>
                    </a:p>
                    <a:p>
                      <a:r>
                        <a:rPr dirty="0" err="1">
                          <a:solidFill>
                            <a:srgbClr val="FF0000"/>
                          </a:solidFill>
                        </a:rPr>
                        <a:t>subject_id</a:t>
                      </a:r>
                      <a:r>
                        <a:rPr dirty="0">
                          <a:solidFill>
                            <a:srgbClr val="FF0000"/>
                          </a:solidFill>
                        </a:rPr>
                        <a:t> (Unique)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Stores base patient profiles, gender, age, and baseline demographics.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Identity anchor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clinical_notes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dirty="0"/>
                        <a:t>_id (</a:t>
                      </a:r>
                      <a:r>
                        <a:rPr dirty="0" err="1"/>
                        <a:t>ObjectId</a:t>
                      </a:r>
                      <a:r>
                        <a:rPr dirty="0"/>
                        <a:t>)</a:t>
                      </a:r>
                    </a:p>
                    <a:p>
                      <a:r>
                        <a:rPr dirty="0" err="1">
                          <a:solidFill>
                            <a:srgbClr val="FF0000"/>
                          </a:solidFill>
                        </a:rPr>
                        <a:t>subject_id</a:t>
                      </a:r>
                      <a:r>
                        <a:rPr dirty="0">
                          <a:solidFill>
                            <a:srgbClr val="FF0000"/>
                          </a:solidFill>
                        </a:rPr>
                        <a:t> (Index)</a:t>
                      </a:r>
                    </a:p>
                    <a:p>
                      <a:r>
                        <a:rPr dirty="0" err="1">
                          <a:solidFill>
                            <a:srgbClr val="FF0000"/>
                          </a:solidFill>
                        </a:rPr>
                        <a:t>note_type</a:t>
                      </a:r>
                      <a:r>
                        <a:rPr dirty="0">
                          <a:solidFill>
                            <a:srgbClr val="FF0000"/>
                          </a:solidFill>
                        </a:rPr>
                        <a:t> (Index)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Stores raw physician notes OR prescription image metadata (including image bucket paths and OCR-extracted texts).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Unified Dual-Modal Ingestion feed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patient_timelines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dirty="0"/>
                        <a:t>_id (</a:t>
                      </a:r>
                      <a:r>
                        <a:rPr dirty="0" err="1"/>
                        <a:t>ObjectId</a:t>
                      </a:r>
                      <a:r>
                        <a:rPr dirty="0"/>
                        <a:t>)</a:t>
                      </a:r>
                    </a:p>
                    <a:p>
                      <a:r>
                        <a:rPr dirty="0" err="1">
                          <a:solidFill>
                            <a:srgbClr val="FF0000"/>
                          </a:solidFill>
                        </a:rPr>
                        <a:t>subject_id</a:t>
                      </a:r>
                      <a:r>
                        <a:rPr dirty="0">
                          <a:solidFill>
                            <a:srgbClr val="FF0000"/>
                          </a:solidFill>
                        </a:rPr>
                        <a:t> (Unique)</a:t>
                      </a:r>
                    </a:p>
                    <a:p>
                      <a:r>
                        <a:rPr dirty="0" err="1">
                          <a:solidFill>
                            <a:srgbClr val="FF0000"/>
                          </a:solidFill>
                        </a:rPr>
                        <a:t>events.timestamp</a:t>
                      </a:r>
                      <a:r>
                        <a:rPr dirty="0">
                          <a:solidFill>
                            <a:srgbClr val="FF0000"/>
                          </a:solidFill>
                        </a:rPr>
                        <a:t> (Index)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Structured patient health history. Aggregates parsed events (symptoms, drugs, labs) and stores BioBERT vector embeddings.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Aggregated timeline states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rare_diseases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dirty="0"/>
                        <a:t>_id (</a:t>
                      </a:r>
                      <a:r>
                        <a:rPr dirty="0" err="1"/>
                        <a:t>ObjectId</a:t>
                      </a:r>
                      <a:r>
                        <a:rPr dirty="0"/>
                        <a:t>)</a:t>
                      </a:r>
                    </a:p>
                    <a:p>
                      <a:r>
                        <a:rPr dirty="0" err="1">
                          <a:solidFill>
                            <a:srgbClr val="FF0000"/>
                          </a:solidFill>
                        </a:rPr>
                        <a:t>orpha_code</a:t>
                      </a:r>
                      <a:r>
                        <a:rPr dirty="0">
                          <a:solidFill>
                            <a:srgbClr val="FF0000"/>
                          </a:solidFill>
                        </a:rPr>
                        <a:t> (Unique)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Reference static dataset holding 7k+ disease-symptom maps and disease vectors.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Orphanet reference matrix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diagnosis_matches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dirty="0"/>
                        <a:t>_id (</a:t>
                      </a:r>
                      <a:r>
                        <a:rPr dirty="0" err="1"/>
                        <a:t>ObjectId</a:t>
                      </a:r>
                      <a:r>
                        <a:rPr dirty="0"/>
                        <a:t>)</a:t>
                      </a:r>
                    </a:p>
                    <a:p>
                      <a:r>
                        <a:rPr dirty="0" err="1">
                          <a:solidFill>
                            <a:srgbClr val="FF0000"/>
                          </a:solidFill>
                        </a:rPr>
                        <a:t>subject_id</a:t>
                      </a:r>
                      <a:r>
                        <a:rPr dirty="0">
                          <a:solidFill>
                            <a:srgbClr val="FF0000"/>
                          </a:solidFill>
                        </a:rPr>
                        <a:t> (Index)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Historical prediction log storing similarity indexes and clinician review actions.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Clinician validation audit loop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Schema Implementation: Patients &amp; Ingested Notes/Images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5 of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📄 patients Collection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0292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"_id":</a:t>
            </a:r>
            <a:r>
              <a:rPr sz="950">
                <a:solidFill>
                  <a:srgbClr val="6EE7B7"/>
                </a:solidFill>
                <a:latin typeface="Consolas"/>
              </a:rPr>
              <a:t> ObjectId("666fca1234bc56de7890ef01"),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"subject_id":</a:t>
            </a:r>
            <a:r>
              <a:rPr sz="950">
                <a:solidFill>
                  <a:srgbClr val="FDBA74"/>
                </a:solidFill>
                <a:latin typeface="Consolas"/>
              </a:rPr>
              <a:t> 100234,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"gender":</a:t>
            </a:r>
            <a:r>
              <a:rPr sz="950">
                <a:solidFill>
                  <a:srgbClr val="6EE7B7"/>
                </a:solidFill>
                <a:latin typeface="Consolas"/>
              </a:rPr>
              <a:t> "F",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"anchor_age":</a:t>
            </a:r>
            <a:r>
              <a:rPr sz="950">
                <a:solidFill>
                  <a:srgbClr val="FDBA74"/>
                </a:solidFill>
                <a:latin typeface="Consolas"/>
              </a:rPr>
              <a:t> 28,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"anchor_year":</a:t>
            </a:r>
            <a:r>
              <a:rPr sz="950">
                <a:solidFill>
                  <a:srgbClr val="FDBA74"/>
                </a:solidFill>
                <a:latin typeface="Consolas"/>
              </a:rPr>
              <a:t> 2023,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"created_at":</a:t>
            </a:r>
            <a:r>
              <a:rPr sz="950">
                <a:solidFill>
                  <a:srgbClr val="6EE7B7"/>
                </a:solidFill>
                <a:latin typeface="Consolas"/>
              </a:rPr>
              <a:t> ISODate("2026-06-15T09:00:00Z")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30352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📄 clinical_notes Collection Schema (Dual-Modal)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0292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"_id":</a:t>
            </a:r>
            <a:r>
              <a:rPr sz="950">
                <a:solidFill>
                  <a:srgbClr val="6EE7B7"/>
                </a:solidFill>
                <a:latin typeface="Consolas"/>
              </a:rPr>
              <a:t> ObjectId("666fca9876de54cb3210ab12"),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"subject_id":</a:t>
            </a:r>
            <a:r>
              <a:rPr sz="950">
                <a:solidFill>
                  <a:srgbClr val="FDBA74"/>
                </a:solidFill>
                <a:latin typeface="Consolas"/>
              </a:rPr>
              <a:t> 100234,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"note_type":</a:t>
            </a:r>
            <a:r>
              <a:rPr sz="950">
                <a:solidFill>
                  <a:srgbClr val="6EE7B7"/>
                </a:solidFill>
                <a:latin typeface="Consolas"/>
              </a:rPr>
              <a:t> "prescription_image", // OR "text"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"image_url":</a:t>
            </a:r>
            <a:r>
              <a:rPr sz="950">
                <a:solidFill>
                  <a:srgbClr val="6EE7B7"/>
                </a:solidFill>
                <a:latin typeface="Consolas"/>
              </a:rPr>
              <a:t> "s3://hds-records/rx_100234_visit1.png",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"ocr_text":</a:t>
            </a:r>
            <a:r>
              <a:rPr sz="950">
                <a:solidFill>
                  <a:srgbClr val="6EE7B7"/>
                </a:solidFill>
                <a:latin typeface="Consolas"/>
              </a:rPr>
              <a:t> "28F malar rash... photosensitivity...",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"ocr_confidence":</a:t>
            </a:r>
            <a:r>
              <a:rPr sz="950">
                <a:solidFill>
                  <a:srgbClr val="FDBA74"/>
                </a:solidFill>
                <a:latin typeface="Consolas"/>
              </a:rPr>
              <a:t> 0.92,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"ingested_date":</a:t>
            </a:r>
            <a:r>
              <a:rPr sz="950">
                <a:solidFill>
                  <a:srgbClr val="6EE7B7"/>
                </a:solidFill>
                <a:latin typeface="Consolas"/>
              </a:rPr>
              <a:t> ISODate("2023-01-15T14:30:00Z"),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"metadata":</a:t>
            </a:r>
            <a:r>
              <a:rPr sz="950">
                <a:solidFill>
                  <a:srgbClr val="FDBA74"/>
                </a:solidFill>
                <a:latin typeface="Consolas"/>
              </a:rPr>
              <a:t>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"uploader_id":</a:t>
            </a:r>
            <a:r>
              <a:rPr sz="950">
                <a:solidFill>
                  <a:srgbClr val="6EE7B7"/>
                </a:solidFill>
                <a:latin typeface="Consolas"/>
              </a:rPr>
              <a:t> "DR_LIN",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"device":</a:t>
            </a:r>
            <a:r>
              <a:rPr sz="950">
                <a:solidFill>
                  <a:srgbClr val="6EE7B7"/>
                </a:solidFill>
                <a:latin typeface="Consolas"/>
              </a:rPr>
              <a:t> "Mobile Scan OCR"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Schema Implementation: Aggregated Patient Timelines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6 of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66928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📄 patient_timelines Collection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532120" cy="485004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F8FAFC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"_id":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6EE7B7"/>
                </a:solidFill>
                <a:latin typeface="Consolas"/>
              </a:rPr>
              <a:t>ObjectId</a:t>
            </a:r>
            <a:r>
              <a:rPr sz="950" dirty="0">
                <a:solidFill>
                  <a:srgbClr val="6EE7B7"/>
                </a:solidFill>
                <a:latin typeface="Consolas"/>
              </a:rPr>
              <a:t>("666fcafe54bc98de7610ef34"),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subject_id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FDBA74"/>
                </a:solidFill>
                <a:latin typeface="Consolas"/>
              </a:rPr>
              <a:t> 100234,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"events":</a:t>
            </a:r>
            <a:r>
              <a:rPr sz="950" dirty="0">
                <a:solidFill>
                  <a:srgbClr val="FDBA74"/>
                </a:solidFill>
                <a:latin typeface="Consolas"/>
              </a:rPr>
              <a:t> [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F8FAFC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event_id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6EE7B7"/>
                </a:solidFill>
                <a:latin typeface="Consolas"/>
              </a:rPr>
              <a:t>ObjectId</a:t>
            </a:r>
            <a:r>
              <a:rPr sz="950" dirty="0">
                <a:solidFill>
                  <a:srgbClr val="6EE7B7"/>
                </a:solidFill>
                <a:latin typeface="Consolas"/>
              </a:rPr>
              <a:t>("666fcb0123bc45de6789ff01"),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"timestamp":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6EE7B7"/>
                </a:solidFill>
                <a:latin typeface="Consolas"/>
              </a:rPr>
              <a:t>ISODate</a:t>
            </a:r>
            <a:r>
              <a:rPr sz="950" dirty="0">
                <a:solidFill>
                  <a:srgbClr val="6EE7B7"/>
                </a:solidFill>
                <a:latin typeface="Consolas"/>
              </a:rPr>
              <a:t>("2023-01-15T14:30:00Z"),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event_type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"symptom",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source_note_id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"100234-NOTE-1",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extracted_text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"malar rash",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standardized_name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"Malar rash",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hpo_code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"HP:0025300",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confidence_score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FDBA74"/>
                </a:solidFill>
                <a:latin typeface="Consolas"/>
              </a:rPr>
              <a:t> 0.94,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"status":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"present"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F8FAFC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F8FAFC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event_id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6EE7B7"/>
                </a:solidFill>
                <a:latin typeface="Consolas"/>
              </a:rPr>
              <a:t>ObjectId</a:t>
            </a:r>
            <a:r>
              <a:rPr sz="950" dirty="0">
                <a:solidFill>
                  <a:srgbClr val="6EE7B7"/>
                </a:solidFill>
                <a:latin typeface="Consolas"/>
              </a:rPr>
              <a:t>("666fcb0123bc45de6789ff02"),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"timestamp":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6EE7B7"/>
                </a:solidFill>
                <a:latin typeface="Consolas"/>
              </a:rPr>
              <a:t>ISODate</a:t>
            </a:r>
            <a:r>
              <a:rPr sz="950" dirty="0">
                <a:solidFill>
                  <a:srgbClr val="6EE7B7"/>
                </a:solidFill>
                <a:latin typeface="Consolas"/>
              </a:rPr>
              <a:t>("2023-08-22T10:15:00Z"),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event_type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"lab",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source_note_id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"100234-NOTE-2",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extracted_text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"low platelets",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standardized_name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"Thrombocytopenia",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hpo_code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"HP:0001873",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confidence_score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FDBA74"/>
                </a:solidFill>
                <a:latin typeface="Consolas"/>
              </a:rPr>
              <a:t> 0.89,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"status":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"present",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    "attributes":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{ "value": 89000, "unit": "</a:t>
            </a:r>
            <a:r>
              <a:rPr sz="950" dirty="0" err="1">
                <a:solidFill>
                  <a:srgbClr val="6EE7B7"/>
                </a:solidFill>
                <a:latin typeface="Consolas"/>
              </a:rPr>
              <a:t>uL</a:t>
            </a:r>
            <a:r>
              <a:rPr sz="950" dirty="0">
                <a:solidFill>
                  <a:srgbClr val="6EE7B7"/>
                </a:solidFill>
                <a:latin typeface="Consolas"/>
              </a:rPr>
              <a:t>"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F8FAFC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F8FAFC"/>
                </a:solidFill>
                <a:latin typeface="Consolas"/>
              </a:rPr>
              <a:t>  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94A3B8"/>
                </a:solidFill>
                <a:latin typeface="Consolas"/>
              </a:rPr>
              <a:t>  "</a:t>
            </a:r>
            <a:r>
              <a:rPr sz="950" dirty="0" err="1">
                <a:solidFill>
                  <a:srgbClr val="94A3B8"/>
                </a:solidFill>
                <a:latin typeface="Consolas"/>
              </a:rPr>
              <a:t>phenotype_vector</a:t>
            </a:r>
            <a:r>
              <a:rPr sz="950" dirty="0">
                <a:solidFill>
                  <a:srgbClr val="94A3B8"/>
                </a:solidFill>
                <a:latin typeface="Consolas"/>
              </a:rPr>
              <a:t>":</a:t>
            </a:r>
            <a:r>
              <a:rPr sz="950" dirty="0">
                <a:solidFill>
                  <a:srgbClr val="6EE7B7"/>
                </a:solidFill>
                <a:latin typeface="Consolas"/>
              </a:rPr>
              <a:t> [0.0125, -0.0432, 0.1194, 0.0053, "..."]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 dirty="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5029200" cy="4389120"/>
          </a:xfrm>
          <a:prstGeom prst="roundRect">
            <a:avLst/>
          </a:prstGeom>
          <a:solidFill>
            <a:srgbClr val="161D30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Aggregate Timeline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Aggregate Timeline Model</a:t>
            </a:r>
            <a:r>
              <a:rPr sz="1200" b="0">
                <a:solidFill>
                  <a:srgbClr val="F8FAFC"/>
                </a:solidFill>
                <a:latin typeface="Arial"/>
              </a:rPr>
              <a:t>: Compiles events from both raw text notes AND OCR-processed prescription text inputs into one consolidated history index.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Standardized Ontologies</a:t>
            </a:r>
            <a:r>
              <a:rPr sz="1200" b="0">
                <a:solidFill>
                  <a:srgbClr val="F8FAFC"/>
                </a:solidFill>
                <a:latin typeface="Arial"/>
              </a:rPr>
              <a:t>: Resolves terms to Human Phenotype Ontology (HPO) and RxNorm codes to keep medical descriptions identical.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Negated Symptoms</a:t>
            </a:r>
            <a:r>
              <a:rPr sz="1200" b="0">
                <a:solidFill>
                  <a:srgbClr val="F8FAFC"/>
                </a:solidFill>
                <a:latin typeface="Arial"/>
              </a:rPr>
              <a:t>: Parses exclusion terms (e.g. 'no evidence of rash') and stores them as negated status to prevent matching errors.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rial"/>
              </a:rPr>
              <a:t>•  </a:t>
            </a:r>
            <a:r>
              <a:rPr sz="1200" b="1">
                <a:solidFill>
                  <a:srgbClr val="06B6D4"/>
                </a:solidFill>
                <a:latin typeface="Arial"/>
              </a:rPr>
              <a:t>BioBERT Clinical Embeddings</a:t>
            </a:r>
            <a:r>
              <a:rPr sz="1200" b="0">
                <a:solidFill>
                  <a:srgbClr val="F8FAFC"/>
                </a:solidFill>
                <a:latin typeface="Arial"/>
              </a:rPr>
              <a:t>: Computes 768-dimension vectors of aggregated symptoms for Atlas Vector 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Schema Implementation: Reference Map &amp; 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Arial"/>
              </a:defRPr>
            </a:pPr>
            <a:r>
              <a:t>Slide 7 of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📄 rare_diseases Collection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0292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"_id":</a:t>
            </a:r>
            <a:r>
              <a:rPr sz="950">
                <a:solidFill>
                  <a:srgbClr val="6EE7B7"/>
                </a:solidFill>
                <a:latin typeface="Consolas"/>
              </a:rPr>
              <a:t> ObjectId("666fcbde23ab45cd8912ef56"),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"orpha_code":</a:t>
            </a:r>
            <a:r>
              <a:rPr sz="950">
                <a:solidFill>
                  <a:srgbClr val="FDBA74"/>
                </a:solidFill>
                <a:latin typeface="Consolas"/>
              </a:rPr>
              <a:t> 536,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"disease_name":</a:t>
            </a:r>
            <a:r>
              <a:rPr sz="950">
                <a:solidFill>
                  <a:srgbClr val="6EE7B7"/>
                </a:solidFill>
                <a:latin typeface="Consolas"/>
              </a:rPr>
              <a:t> "Systemic Lupus Erythematosus",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"synonyms":</a:t>
            </a:r>
            <a:r>
              <a:rPr sz="950">
                <a:solidFill>
                  <a:srgbClr val="6EE7B7"/>
                </a:solidFill>
                <a:latin typeface="Consolas"/>
              </a:rPr>
              <a:t> ["SLE", "Lupus"],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"symptom_profiles":</a:t>
            </a:r>
            <a:r>
              <a:rPr sz="950">
                <a:solidFill>
                  <a:srgbClr val="FDBA74"/>
                </a:solidFill>
                <a:latin typeface="Consolas"/>
              </a:rPr>
              <a:t> [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"hpo_code":</a:t>
            </a:r>
            <a:r>
              <a:rPr sz="950">
                <a:solidFill>
                  <a:srgbClr val="6EE7B7"/>
                </a:solidFill>
                <a:latin typeface="Consolas"/>
              </a:rPr>
              <a:t> "HP:0025300",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"hpo_name":</a:t>
            </a:r>
            <a:r>
              <a:rPr sz="950">
                <a:solidFill>
                  <a:srgbClr val="6EE7B7"/>
                </a:solidFill>
                <a:latin typeface="Consolas"/>
              </a:rPr>
              <a:t> "Malar rash",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"frequency":</a:t>
            </a:r>
            <a:r>
              <a:rPr sz="950">
                <a:solidFill>
                  <a:srgbClr val="6EE7B7"/>
                </a:solidFill>
                <a:latin typeface="Consolas"/>
              </a:rPr>
              <a:t> "Very frequent (80-99%)"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"hpo_code":</a:t>
            </a:r>
            <a:r>
              <a:rPr sz="950">
                <a:solidFill>
                  <a:srgbClr val="6EE7B7"/>
                </a:solidFill>
                <a:latin typeface="Consolas"/>
              </a:rPr>
              <a:t> "HP:0001873",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"hpo_name":</a:t>
            </a:r>
            <a:r>
              <a:rPr sz="950">
                <a:solidFill>
                  <a:srgbClr val="6EE7B7"/>
                </a:solidFill>
                <a:latin typeface="Consolas"/>
              </a:rPr>
              <a:t> "Thrombocytopenia",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"frequency":</a:t>
            </a:r>
            <a:r>
              <a:rPr sz="950">
                <a:solidFill>
                  <a:srgbClr val="6EE7B7"/>
                </a:solidFill>
                <a:latin typeface="Consolas"/>
              </a:rPr>
              <a:t> "Frequent (30-79%)"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"disease_vector":</a:t>
            </a:r>
            <a:r>
              <a:rPr sz="950">
                <a:solidFill>
                  <a:srgbClr val="6EE7B7"/>
                </a:solidFill>
                <a:latin typeface="Consolas"/>
              </a:rPr>
              <a:t> [0.0142, -0.0398, 0.1215, 0.0049, "..."]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30352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Arial"/>
              </a:defRPr>
            </a:pPr>
            <a:r>
              <a:t>📄 diagnosis_matches Collection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0292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"_id":</a:t>
            </a:r>
            <a:r>
              <a:rPr sz="950">
                <a:solidFill>
                  <a:srgbClr val="6EE7B7"/>
                </a:solidFill>
                <a:latin typeface="Consolas"/>
              </a:rPr>
              <a:t> ObjectId("666fccaf12bc34de5678ef78"),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"subject_id":</a:t>
            </a:r>
            <a:r>
              <a:rPr sz="950">
                <a:solidFill>
                  <a:srgbClr val="FDBA74"/>
                </a:solidFill>
                <a:latin typeface="Consolas"/>
              </a:rPr>
              <a:t> 100234,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"generated_at":</a:t>
            </a:r>
            <a:r>
              <a:rPr sz="950">
                <a:solidFill>
                  <a:srgbClr val="6EE7B7"/>
                </a:solidFill>
                <a:latin typeface="Consolas"/>
              </a:rPr>
              <a:t> ISODate("2026-06-15T09:30:00Z"),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"matched_diseases":</a:t>
            </a:r>
            <a:r>
              <a:rPr sz="950">
                <a:solidFill>
                  <a:srgbClr val="FDBA74"/>
                </a:solidFill>
                <a:latin typeface="Consolas"/>
              </a:rPr>
              <a:t> [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"rank":</a:t>
            </a:r>
            <a:r>
              <a:rPr sz="950">
                <a:solidFill>
                  <a:srgbClr val="FDBA74"/>
                </a:solidFill>
                <a:latin typeface="Consolas"/>
              </a:rPr>
              <a:t> 1,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"orpha_code":</a:t>
            </a:r>
            <a:r>
              <a:rPr sz="950">
                <a:solidFill>
                  <a:srgbClr val="FDBA74"/>
                </a:solidFill>
                <a:latin typeface="Consolas"/>
              </a:rPr>
              <a:t> 536,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"disease_name":</a:t>
            </a:r>
            <a:r>
              <a:rPr sz="950">
                <a:solidFill>
                  <a:srgbClr val="6EE7B7"/>
                </a:solidFill>
                <a:latin typeface="Consolas"/>
              </a:rPr>
              <a:t> "Systemic Lupus Erythematosus",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"matched_symptoms":</a:t>
            </a:r>
            <a:r>
              <a:rPr sz="950">
                <a:solidFill>
                  <a:srgbClr val="6EE7B7"/>
                </a:solidFill>
                <a:latin typeface="Consolas"/>
              </a:rPr>
              <a:t> ["HP:0025300", "HP:0001873"],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"vector_similarity_score":</a:t>
            </a:r>
            <a:r>
              <a:rPr sz="950">
                <a:solidFill>
                  <a:srgbClr val="FDBA74"/>
                </a:solidFill>
                <a:latin typeface="Consolas"/>
              </a:rPr>
              <a:t> 0.87,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"rules_confidence_score":</a:t>
            </a:r>
            <a:r>
              <a:rPr sz="950">
                <a:solidFill>
                  <a:srgbClr val="FDBA74"/>
                </a:solidFill>
                <a:latin typeface="Consolas"/>
              </a:rPr>
              <a:t> 0.82,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    "final_confidence":</a:t>
            </a:r>
            <a:r>
              <a:rPr sz="950">
                <a:solidFill>
                  <a:srgbClr val="FDBA74"/>
                </a:solidFill>
                <a:latin typeface="Consolas"/>
              </a:rPr>
              <a:t> 0.85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  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"review_status":</a:t>
            </a:r>
            <a:r>
              <a:rPr sz="950">
                <a:solidFill>
                  <a:srgbClr val="6EE7B7"/>
                </a:solidFill>
                <a:latin typeface="Consolas"/>
              </a:rPr>
              <a:t> "approved",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94A3B8"/>
                </a:solidFill>
                <a:latin typeface="Consolas"/>
              </a:rPr>
              <a:t>  "feedback_notes":</a:t>
            </a:r>
            <a:r>
              <a:rPr sz="950">
                <a:solidFill>
                  <a:srgbClr val="6EE7B7"/>
                </a:solidFill>
                <a:latin typeface="Consolas"/>
              </a:rPr>
              <a:t> "Highly consistent clinical timeline."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50">
                <a:solidFill>
                  <a:srgbClr val="F8FAF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1285</Words>
  <Application>Microsoft Office PowerPoint</Application>
  <PresentationFormat>Custom</PresentationFormat>
  <Paragraphs>171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2026-06-15T14:13:42Z</dcterms:modified>
  <cp:category/>
</cp:coreProperties>
</file>